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74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8" r:id="rId14"/>
    <p:sldId id="276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22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3D330E-616C-41F8-B594-D989471AD847}" type="datetimeFigureOut">
              <a:rPr lang="es-VE" smtClean="0"/>
              <a:t>5/10/2021</a:t>
            </a:fld>
            <a:endParaRPr lang="es-VE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CAA39-F540-42B7-9FA6-AFCECA2FE5E2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06206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1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612602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2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879042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3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4266374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4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88831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5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54099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6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16594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8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4335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9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85711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10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11450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11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49852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12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830255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13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4191311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14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7758486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15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2652742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CD093C-39CE-4120-9460-5B88BCCB9AA0}" type="slidenum">
              <a:rPr lang="es-VE" smtClean="0"/>
              <a:t>16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262081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AC61-4D01-4309-B954-0FCE68836195}" type="datetimeFigureOut">
              <a:rPr lang="es-VE" smtClean="0"/>
              <a:t>5/10/2021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5012-1ED5-4699-9226-839364EE4D03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629525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AC61-4D01-4309-B954-0FCE68836195}" type="datetimeFigureOut">
              <a:rPr lang="es-VE" smtClean="0"/>
              <a:t>5/10/2021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5012-1ED5-4699-9226-839364EE4D03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324612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AC61-4D01-4309-B954-0FCE68836195}" type="datetimeFigureOut">
              <a:rPr lang="es-VE" smtClean="0"/>
              <a:t>5/10/2021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5012-1ED5-4699-9226-839364EE4D03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927776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AC61-4D01-4309-B954-0FCE68836195}" type="datetimeFigureOut">
              <a:rPr lang="es-VE" smtClean="0"/>
              <a:t>5/10/2021</a:t>
            </a:fld>
            <a:endParaRPr lang="es-VE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5012-1ED5-4699-9226-839364EE4D03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84644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AC61-4D01-4309-B954-0FCE68836195}" type="datetimeFigureOut">
              <a:rPr lang="es-VE" smtClean="0"/>
              <a:t>5/10/2021</a:t>
            </a:fld>
            <a:endParaRPr lang="es-VE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5012-1ED5-4699-9226-839364EE4D03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852876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AC61-4D01-4309-B954-0FCE68836195}" type="datetimeFigureOut">
              <a:rPr lang="es-VE" smtClean="0"/>
              <a:t>5/10/2021</a:t>
            </a:fld>
            <a:endParaRPr lang="es-VE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5012-1ED5-4699-9226-839364EE4D03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19966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AC61-4D01-4309-B954-0FCE68836195}" type="datetimeFigureOut">
              <a:rPr lang="es-VE" smtClean="0"/>
              <a:t>5/10/2021</a:t>
            </a:fld>
            <a:endParaRPr lang="es-VE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5012-1ED5-4699-9226-839364EE4D03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57708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AC61-4D01-4309-B954-0FCE68836195}" type="datetimeFigureOut">
              <a:rPr lang="es-VE" smtClean="0"/>
              <a:t>5/10/2021</a:t>
            </a:fld>
            <a:endParaRPr lang="es-VE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5012-1ED5-4699-9226-839364EE4D03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68018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AC61-4D01-4309-B954-0FCE68836195}" type="datetimeFigureOut">
              <a:rPr lang="es-VE" smtClean="0"/>
              <a:t>5/10/2021</a:t>
            </a:fld>
            <a:endParaRPr lang="es-VE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5012-1ED5-4699-9226-839364EE4D03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375196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AC61-4D01-4309-B954-0FCE68836195}" type="datetimeFigureOut">
              <a:rPr lang="es-VE" smtClean="0"/>
              <a:t>5/10/2021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5012-1ED5-4699-9226-839364EE4D03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908486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AC61-4D01-4309-B954-0FCE68836195}" type="datetimeFigureOut">
              <a:rPr lang="es-VE" smtClean="0"/>
              <a:t>5/10/2021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5012-1ED5-4699-9226-839364EE4D03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797941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 userDrawn="1"/>
        </p:nvSpPr>
        <p:spPr>
          <a:xfrm>
            <a:off x="6604402" y="6348083"/>
            <a:ext cx="2513830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i="1" dirty="0" smtClean="0">
                <a:solidFill>
                  <a:srgbClr val="9EB9DA"/>
                </a:solidFill>
                <a:latin typeface="Ubuntu" pitchFamily="34" charset="0"/>
              </a:rPr>
              <a:t>@somoscripcoin</a:t>
            </a:r>
            <a:endParaRPr lang="es-VE" sz="2400" b="1" i="1" dirty="0">
              <a:solidFill>
                <a:srgbClr val="9EB9DA"/>
              </a:solidFill>
              <a:latin typeface="Ubuntu" pitchFamily="34" charset="0"/>
            </a:endParaRPr>
          </a:p>
        </p:txBody>
      </p:sp>
      <p:sp>
        <p:nvSpPr>
          <p:cNvPr id="5" name="4 CuadroTexto"/>
          <p:cNvSpPr txBox="1"/>
          <p:nvPr userDrawn="1"/>
        </p:nvSpPr>
        <p:spPr>
          <a:xfrm>
            <a:off x="393632" y="6368697"/>
            <a:ext cx="1755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i="1" dirty="0" smtClean="0">
                <a:solidFill>
                  <a:srgbClr val="9EB9DA"/>
                </a:solidFill>
                <a:latin typeface="Ubuntu" pitchFamily="34" charset="0"/>
              </a:rPr>
              <a:t>@RECripto</a:t>
            </a:r>
            <a:endParaRPr lang="es-VE" sz="2400" b="1" i="1" dirty="0">
              <a:solidFill>
                <a:srgbClr val="9EB9DA"/>
              </a:solidFill>
              <a:latin typeface="Ubuntu" pitchFamily="34" charset="0"/>
            </a:endParaRPr>
          </a:p>
        </p:txBody>
      </p:sp>
      <p:pic>
        <p:nvPicPr>
          <p:cNvPr id="6" name="5 Imagen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-12700"/>
            <a:ext cx="9142412" cy="6870700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6266434"/>
            <a:ext cx="3494216" cy="589302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80"/>
          <a:stretch/>
        </p:blipFill>
        <p:spPr>
          <a:xfrm>
            <a:off x="7782388" y="179204"/>
            <a:ext cx="1038084" cy="96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913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CAC61-4D01-4309-B954-0FCE68836195}" type="datetimeFigureOut">
              <a:rPr lang="es-VE" smtClean="0"/>
              <a:t>5/10/2021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F5012-1ED5-4699-9226-839364EE4D03}" type="slidenum">
              <a:rPr lang="es-VE" smtClean="0"/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318658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33400" y="3573016"/>
            <a:ext cx="8077200" cy="1301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6000" b="1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Aspectos </a:t>
            </a:r>
            <a:r>
              <a:rPr lang="es-VE" sz="6000" b="1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Legales</a:t>
            </a:r>
            <a:endParaRPr lang="es-VE" sz="48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65491" l="8899" r="8899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93" r="15598" b="31121"/>
          <a:stretch/>
        </p:blipFill>
        <p:spPr>
          <a:xfrm>
            <a:off x="2771800" y="692696"/>
            <a:ext cx="3456384" cy="3203478"/>
          </a:xfrm>
          <a:prstGeom prst="rect">
            <a:avLst/>
          </a:prstGeom>
        </p:spPr>
      </p:pic>
      <p:sp>
        <p:nvSpPr>
          <p:cNvPr id="4" name="3 CuadroTexto"/>
          <p:cNvSpPr txBox="1"/>
          <p:nvPr/>
        </p:nvSpPr>
        <p:spPr>
          <a:xfrm>
            <a:off x="5436096" y="5229200"/>
            <a:ext cx="3888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Abg. Argenis Flores.</a:t>
            </a:r>
          </a:p>
          <a:p>
            <a:r>
              <a:rPr lang="es-MX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Asesor Jurídico de la REC. </a:t>
            </a:r>
            <a:endParaRPr lang="es-VE" sz="2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62338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39552" y="1556792"/>
            <a:ext cx="80772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s-VE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Introducción</a:t>
            </a:r>
            <a:r>
              <a:rPr lang="es-VE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s-VE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Gaceta Oficial  N° 41.575, mediante la cual se publica el Decreto Constituyente sobre el Sistema Integral de Criptoactivos.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s-VE" sz="2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es-VE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Gaceta Oficial N° 41.578, mediante la cual se publica  Providencia Administrativa que regula el Registro Integral de Servicios en Criptoactivos (RISEC).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s-VE" sz="2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es-VE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Gaceta Oficial N° 41.969, mediante la cual se publica  Providencia </a:t>
            </a:r>
            <a:r>
              <a:rPr lang="es-VE" sz="2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A</a:t>
            </a:r>
            <a:r>
              <a:rPr lang="es-VE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dministrativa que regula la Minería Digital y procesos Asociados. (Incluye el RIM).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Gaceta oficial N° 42.110, mediante la cual se publica la Providencia Administrativa que regula normas relativas a la administración y fiscalización de los riesgos relacionados con la legitimación de capitales, el financiamiento del terrorismo y el financiamiento de la proliferación de armas de destrucción masiva, aplicables a los proveedores de servicios de activos virtuales y a las personas y entidades que proporcionen productos y servicios a través de actividades que involucren activos virtuales, en el sistema integral de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criptoactivos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.</a:t>
            </a:r>
            <a:endParaRPr lang="es-VE" sz="20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251520" y="75531"/>
            <a:ext cx="1944216" cy="738664"/>
          </a:xfrm>
          <a:prstGeom prst="rect">
            <a:avLst/>
          </a:prstGeom>
          <a:noFill/>
        </p:spPr>
        <p:txBody>
          <a:bodyPr wrap="square" rtlCol="0" anchor="ctr" anchorCtr="1">
            <a:normAutofit/>
          </a:bodyPr>
          <a:lstStyle/>
          <a:p>
            <a:pPr>
              <a:lnSpc>
                <a:spcPct val="150000"/>
              </a:lnSpc>
            </a:pPr>
            <a:r>
              <a:rPr lang="es-VE" sz="28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Contenido</a:t>
            </a:r>
            <a:r>
              <a:rPr lang="es-VE" sz="28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:</a:t>
            </a:r>
            <a:endParaRPr lang="es-VE" sz="24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789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95536" y="1196752"/>
            <a:ext cx="38164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Antes </a:t>
            </a:r>
            <a:r>
              <a:rPr lang="es-ES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de la publicación de la </a:t>
            </a:r>
            <a:r>
              <a:rPr lang="es-ES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providencia 084-2020, </a:t>
            </a:r>
            <a:r>
              <a:rPr lang="es-ES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si bien la minería digital no era ilegal en Venezuela, hubo episodios de persecución contra mineros e incautación de equipos; principalmente debido a denuncias por el alto consumo de electricidad que demandan estos aparatos.</a:t>
            </a:r>
            <a:r>
              <a:rPr lang="es-VE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endParaRPr lang="es-VE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44008" y="1533605"/>
            <a:ext cx="3960439" cy="3834764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251520" y="75531"/>
            <a:ext cx="2520280" cy="738664"/>
          </a:xfrm>
          <a:prstGeom prst="rect">
            <a:avLst/>
          </a:prstGeom>
          <a:noFill/>
        </p:spPr>
        <p:txBody>
          <a:bodyPr wrap="square" rtlCol="0" anchor="ctr" anchorCtr="1">
            <a:normAutofit/>
          </a:bodyPr>
          <a:lstStyle/>
          <a:p>
            <a:pPr>
              <a:lnSpc>
                <a:spcPct val="150000"/>
              </a:lnSpc>
            </a:pPr>
            <a:r>
              <a:rPr lang="es-VE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Antecedentes.</a:t>
            </a:r>
          </a:p>
        </p:txBody>
      </p:sp>
    </p:spTree>
    <p:extLst>
      <p:ext uri="{BB962C8B-B14F-4D97-AF65-F5344CB8AC3E}">
        <p14:creationId xmlns:p14="http://schemas.microsoft.com/office/powerpoint/2010/main" val="354290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004048" y="1040839"/>
            <a:ext cx="381642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14 de septiembre de 2021.-</a:t>
            </a:r>
          </a:p>
          <a:p>
            <a:pPr algn="just"/>
            <a:endParaRPr lang="es-ES" sz="125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algn="just"/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La Fuerza Armada Nacional Bolivariana (</a:t>
            </a:r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FANB</a:t>
            </a:r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) ordenó ayer lunes a los cuerpos de seguridad respetar el Decreto Constituyente sobre </a:t>
            </a:r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criptoactivos</a:t>
            </a:r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vigente en Venezuela desde enero de 2019.</a:t>
            </a:r>
          </a:p>
          <a:p>
            <a:pPr algn="just"/>
            <a:endParaRPr lang="es-ES" sz="125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algn="just"/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El comandante estratégico operacional de la </a:t>
            </a:r>
            <a:r>
              <a:rPr lang="es-ES" sz="125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FANB</a:t>
            </a:r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, G/J Domingo Antonio Hernández </a:t>
            </a:r>
            <a:r>
              <a:rPr lang="es-ES" sz="125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Larez</a:t>
            </a:r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, firmó un documento en el que se ordena a los funcionarios de "seguridad ciudadana" coordinar con la Superintendencia Nacional de Criptoactivos y Actividades Conexas (</a:t>
            </a:r>
            <a:r>
              <a:rPr lang="es-ES" sz="125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Sunacrip</a:t>
            </a:r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) cualquier procedimiento o inspección relacionado con la minería digital</a:t>
            </a:r>
            <a:r>
              <a:rPr lang="es-ES" sz="125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El comunicado aclara que la medida tiene como objetivo evitar que las actividades relacionadas con las </a:t>
            </a:r>
            <a:r>
              <a:rPr lang="es-ES" sz="125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criptomonedas</a:t>
            </a:r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sean afectadas, tal y como lo establece el Decreto Constituyente sobre </a:t>
            </a:r>
            <a:r>
              <a:rPr lang="es-ES" sz="125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criptoactivos</a:t>
            </a:r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pPr algn="just"/>
            <a:endParaRPr lang="es-ES" sz="125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algn="just"/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El documento público afirma también que serán sancionados con prisión de 3 a 5 años los efectivos que no atiendan el decreto y obstaculicen o detengan alguna operación relacionada con </a:t>
            </a:r>
            <a:r>
              <a:rPr lang="es-ES" sz="125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criptoactivos</a:t>
            </a:r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"sin causa alguna justificada por la </a:t>
            </a:r>
            <a:r>
              <a:rPr lang="es-ES" sz="125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Sunacrip</a:t>
            </a:r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".</a:t>
            </a:r>
            <a:endParaRPr lang="es-ES" sz="1250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es-ES" sz="125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Fuente: https://www.aporrea.org/economia/n367776.html</a:t>
            </a:r>
            <a:endParaRPr lang="es-ES" sz="1250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algn="just"/>
            <a:endParaRPr lang="es-VE" sz="125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79512" y="24035"/>
            <a:ext cx="2664296" cy="507086"/>
          </a:xfrm>
          <a:prstGeom prst="rect">
            <a:avLst/>
          </a:prstGeom>
          <a:noFill/>
        </p:spPr>
        <p:txBody>
          <a:bodyPr wrap="square" rtlCol="0" anchor="ctr" anchorCtr="0"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s-VE" sz="2400" b="1" dirty="0">
                <a:solidFill>
                  <a:schemeClr val="bg1"/>
                </a:solidFill>
                <a:latin typeface="Arial Narrow" panose="020B0606020202030204" pitchFamily="34" charset="0"/>
              </a:rPr>
              <a:t>Antecedentes.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8800"/>
            <a:ext cx="4546104" cy="59912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760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0" y="332656"/>
            <a:ext cx="7706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Marco Legal en Venezuela sobre Minería y Criptoactivos. 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534" b="91873" l="6780" r="9279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447" y="764704"/>
            <a:ext cx="1596627" cy="1914599"/>
          </a:xfrm>
          <a:prstGeom prst="rect">
            <a:avLst/>
          </a:prstGeom>
        </p:spPr>
      </p:pic>
      <p:sp>
        <p:nvSpPr>
          <p:cNvPr id="8" name="Flecha abajo 7"/>
          <p:cNvSpPr/>
          <p:nvPr/>
        </p:nvSpPr>
        <p:spPr>
          <a:xfrm>
            <a:off x="786495" y="2693799"/>
            <a:ext cx="648072" cy="633576"/>
          </a:xfrm>
          <a:prstGeom prst="downArrow">
            <a:avLst/>
          </a:prstGeom>
          <a:solidFill>
            <a:schemeClr val="tx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9" name="Flecha abajo 8"/>
          <p:cNvSpPr/>
          <p:nvPr/>
        </p:nvSpPr>
        <p:spPr>
          <a:xfrm rot="16200000">
            <a:off x="3415630" y="2393122"/>
            <a:ext cx="561568" cy="603716"/>
          </a:xfrm>
          <a:prstGeom prst="downArrow">
            <a:avLst/>
          </a:prstGeom>
          <a:solidFill>
            <a:schemeClr val="tx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75598" y="1268760"/>
            <a:ext cx="4919898" cy="483759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112" y="3429000"/>
            <a:ext cx="3712786" cy="326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3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/>
          <p:nvPr/>
        </p:nvSpPr>
        <p:spPr>
          <a:xfrm>
            <a:off x="575556" y="1844824"/>
            <a:ext cx="743672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s-ES" sz="24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El </a:t>
            </a:r>
            <a:r>
              <a:rPr lang="es-ES" sz="24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objeto de este Decreto Constituyente: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s-ES" sz="24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lang="es-ES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C</a:t>
            </a:r>
            <a:r>
              <a:rPr lang="es-ES" sz="24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rear y definir el marco regulador aplicable al Sistema Integral de Criptoactivos. 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s-ES" sz="24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lang="es-ES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E</a:t>
            </a:r>
            <a:r>
              <a:rPr lang="es-ES" sz="24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xpresión organizativa y funcional de soberanía económica</a:t>
            </a:r>
            <a:r>
              <a:rPr lang="es-ES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.</a:t>
            </a:r>
            <a:endParaRPr lang="es-ES" sz="2400" b="1" i="0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latin typeface="Arial Narrow" panose="020B0606020202030204" pitchFamily="34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s-ES" sz="24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lang="es-ES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C</a:t>
            </a:r>
            <a:r>
              <a:rPr lang="es-ES" sz="24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on el  propósito de avanzar, de forma armónica en el desarrollo productivo y social de la República Bolivariana de Venezuela.</a:t>
            </a:r>
            <a:endParaRPr lang="es-VE" sz="2400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575556" y="476672"/>
            <a:ext cx="74367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Gaceta Oficial  N° 41.575, mediante la cual se </a:t>
            </a:r>
            <a:r>
              <a:rPr lang="es-VE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publica</a:t>
            </a:r>
          </a:p>
          <a:p>
            <a:pPr algn="ctr"/>
            <a:r>
              <a:rPr lang="es-VE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el </a:t>
            </a:r>
            <a:r>
              <a:rPr lang="es-VE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Decreto </a:t>
            </a:r>
            <a:r>
              <a:rPr lang="es-VE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Constituyente</a:t>
            </a:r>
          </a:p>
          <a:p>
            <a:pPr algn="ctr"/>
            <a:r>
              <a:rPr lang="es-VE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sobre </a:t>
            </a:r>
            <a:r>
              <a:rPr lang="es-VE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el Sistema Integral de Criptoactivos</a:t>
            </a:r>
            <a:r>
              <a:rPr lang="es-VE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.</a:t>
            </a:r>
            <a:endParaRPr lang="es-VE" sz="2400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62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4"/>
          <p:cNvSpPr txBox="1"/>
          <p:nvPr/>
        </p:nvSpPr>
        <p:spPr>
          <a:xfrm>
            <a:off x="0" y="332656"/>
            <a:ext cx="7706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Nacimiento de una nueva </a:t>
            </a:r>
            <a:r>
              <a:rPr lang="es-MX" sz="36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rama</a:t>
            </a:r>
          </a:p>
          <a:p>
            <a:pPr algn="ctr"/>
            <a:r>
              <a:rPr lang="es-MX" sz="36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del </a:t>
            </a:r>
            <a:r>
              <a:rPr lang="es-MX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</a:t>
            </a:r>
            <a:r>
              <a:rPr lang="es-MX" sz="36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erecho Procesal. </a:t>
            </a:r>
            <a:endParaRPr lang="es-VE" sz="3600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CuadroTexto 4"/>
          <p:cNvSpPr txBox="1"/>
          <p:nvPr/>
        </p:nvSpPr>
        <p:spPr>
          <a:xfrm>
            <a:off x="611560" y="2060848"/>
            <a:ext cx="77060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s-MX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Venezuela es pionera en la materia.</a:t>
            </a:r>
          </a:p>
          <a:p>
            <a:endParaRPr lang="es-MX" sz="2400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s-MX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El Decreto Constituyente sobre el sistema integral e criptoactivos establece derechos sustantivos y Adjetivos.</a:t>
            </a:r>
          </a:p>
          <a:p>
            <a:pPr marL="342900" indent="-342900">
              <a:buFont typeface="Wingdings" pitchFamily="2" charset="2"/>
              <a:buChar char="ü"/>
            </a:pPr>
            <a:endParaRPr lang="es-MX" sz="24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s-MX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La competencias exclusivas que tiene  la Sunacrip: </a:t>
            </a:r>
          </a:p>
          <a:p>
            <a:r>
              <a:rPr lang="es-MX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- Unidad de Prevención, Control e Investigación de delitos.</a:t>
            </a:r>
          </a:p>
          <a:p>
            <a:pPr marL="342900" indent="-342900" algn="ctr">
              <a:buFont typeface="Wingdings" pitchFamily="2" charset="2"/>
              <a:buChar char="ü"/>
            </a:pPr>
            <a:endParaRPr lang="es-MX" sz="24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342900" indent="-342900" algn="ctr">
              <a:buFont typeface="Wingdings" pitchFamily="2" charset="2"/>
              <a:buChar char="ü"/>
            </a:pPr>
            <a:endParaRPr lang="es-VE" sz="2400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3 CuadroTexto"/>
          <p:cNvSpPr txBox="1"/>
          <p:nvPr/>
        </p:nvSpPr>
        <p:spPr>
          <a:xfrm>
            <a:off x="6337300" y="5374173"/>
            <a:ext cx="2737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</a:rPr>
              <a:t>Abg. Argenis Flores.</a:t>
            </a:r>
          </a:p>
          <a:p>
            <a:r>
              <a:rPr lang="es-MX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</a:rPr>
              <a:t>Asesor Jurídico de la REC. </a:t>
            </a:r>
            <a:endParaRPr lang="es-VE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34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475656" y="858932"/>
            <a:ext cx="6192688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s-ES" sz="20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Con </a:t>
            </a:r>
            <a:r>
              <a:rPr lang="es-ES" sz="20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el fin de sistematizar digitalmente la información de los usuarios que quieran acceder al sistema de </a:t>
            </a:r>
            <a:r>
              <a:rPr lang="es-ES" sz="2000" b="1" i="0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criptomonedas</a:t>
            </a:r>
            <a:r>
              <a:rPr lang="es-ES" sz="20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 en Venezuela, se creó el Registro Integral de Servicios en Criptoactivos (RISEC), mediante una providencia publicada el lunes 4 de febrero en la Gaceta Oficial Nº </a:t>
            </a:r>
            <a:r>
              <a:rPr lang="es-ES" sz="20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41.578.</a:t>
            </a:r>
            <a:br>
              <a:rPr lang="es-ES" sz="20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</a:br>
            <a:r>
              <a:rPr lang="es-ES" sz="20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El </a:t>
            </a:r>
            <a:r>
              <a:rPr lang="es-ES" sz="20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mismo será supervisado por la </a:t>
            </a:r>
            <a:r>
              <a:rPr lang="es-ES" sz="2000" b="1" i="0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Sunacrip</a:t>
            </a:r>
            <a:r>
              <a:rPr lang="es-ES" sz="20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s-ES" sz="20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 Se deben registrar todas las personas naturales y jurídicas que deseen incursionar en el mundo de la minería digital.</a:t>
            </a:r>
            <a:endParaRPr lang="es-ES" sz="2000" b="1" i="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251520" y="212601"/>
            <a:ext cx="68407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REGISTRO INTEGRAL DE CRIPTOACTIVOS (</a:t>
            </a:r>
            <a:r>
              <a:rPr lang="es-ES" sz="2400" b="1" i="0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RISEC</a:t>
            </a:r>
            <a:r>
              <a:rPr lang="es-ES" sz="2400" b="1" i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latin typeface="Arial Narrow" panose="020B0606020202030204" pitchFamily="34" charset="0"/>
              </a:rPr>
              <a:t>)</a:t>
            </a:r>
            <a:endParaRPr lang="es-ES" sz="2400" b="1" i="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latin typeface="Arial Narrow" panose="020B060602020203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219041" y="3538409"/>
            <a:ext cx="4908216" cy="2582667"/>
            <a:chOff x="-4804" y="3403332"/>
            <a:chExt cx="4908216" cy="2582667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4804" y="3403332"/>
              <a:ext cx="4908216" cy="2582667"/>
            </a:xfrm>
            <a:prstGeom prst="rect">
              <a:avLst/>
            </a:prstGeom>
          </p:spPr>
        </p:pic>
        <p:sp>
          <p:nvSpPr>
            <p:cNvPr id="6" name="Rectángulo 5"/>
            <p:cNvSpPr/>
            <p:nvPr/>
          </p:nvSpPr>
          <p:spPr>
            <a:xfrm>
              <a:off x="81094" y="3571281"/>
              <a:ext cx="2114642" cy="2246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s-VE" sz="1400" b="1" dirty="0" smtClean="0"/>
                <a:t>El </a:t>
              </a:r>
              <a:r>
                <a:rPr lang="es-VE" sz="1400" b="1" dirty="0"/>
                <a:t>Registro Integral de Servicios en Criptoactivos (</a:t>
              </a:r>
              <a:r>
                <a:rPr lang="es-VE" sz="1400" b="1" dirty="0" err="1"/>
                <a:t>RISEC</a:t>
              </a:r>
              <a:r>
                <a:rPr lang="es-VE" sz="1400" b="1" dirty="0"/>
                <a:t>), Es un registro inédito a nivel mundial, del cual las personas naturales y jurídicas pueden obtener licencias, para la minería y el intercambio de Criptoactivos.</a:t>
              </a:r>
            </a:p>
          </p:txBody>
        </p:sp>
      </p:grpSp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46298" y="3672926"/>
            <a:ext cx="3578662" cy="2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3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31640" y="404664"/>
            <a:ext cx="5797798" cy="586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602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8934" y="371803"/>
            <a:ext cx="65527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2400" b="1" dirty="0">
                <a:solidFill>
                  <a:srgbClr val="DDA300"/>
                </a:solidFill>
                <a:latin typeface="Nunito Sans"/>
              </a:rPr>
              <a:t>REQUISITOS PARA EL REGISTRO </a:t>
            </a:r>
            <a:r>
              <a:rPr lang="es-VE" sz="2400" b="1" dirty="0" err="1">
                <a:solidFill>
                  <a:srgbClr val="DDA300"/>
                </a:solidFill>
                <a:latin typeface="Nunito Sans"/>
              </a:rPr>
              <a:t>RISEC</a:t>
            </a:r>
            <a:endParaRPr lang="es-VE" sz="2400" b="1" i="0" dirty="0">
              <a:solidFill>
                <a:srgbClr val="DDA300"/>
              </a:solidFill>
              <a:effectLst/>
              <a:latin typeface="Nunito San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0095" y="3852822"/>
            <a:ext cx="6303810" cy="224047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72339" y="1218532"/>
            <a:ext cx="3999323" cy="232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95536" y="2060848"/>
            <a:ext cx="82089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De </a:t>
            </a:r>
            <a:r>
              <a:rPr lang="es-ES" sz="2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las infracciones por falta de </a:t>
            </a:r>
            <a:r>
              <a:rPr lang="es-ES" sz="2400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autorización Artículo 42</a:t>
            </a:r>
            <a:r>
              <a:rPr lang="es-ES" sz="2800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.</a:t>
            </a:r>
            <a:br>
              <a:rPr lang="es-ES" sz="2800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s-ES" sz="2000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Quienes </a:t>
            </a:r>
            <a:r>
              <a:rPr lang="es-ES" sz="2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operen o realicen cualquier tipo de actividad relacionada con la constitución, emisión, organización, funcionamiento y uso de </a:t>
            </a:r>
            <a:r>
              <a:rPr lang="es-ES" sz="20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criptoactivos</a:t>
            </a:r>
            <a:r>
              <a:rPr lang="es-ES" sz="2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 o </a:t>
            </a:r>
            <a:r>
              <a:rPr lang="es-ES" sz="20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criptoactivos</a:t>
            </a:r>
            <a:r>
              <a:rPr lang="es-ES" sz="2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 soberanos, incluyendo la minería, sin la debida autorización del ente rector y en incumplimiento de las demás formalidades exigidas por este Decreto Constituyente, serán sancionados con multa equivalente de 100 a 300 </a:t>
            </a:r>
            <a:r>
              <a:rPr lang="es-ES" sz="20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criptoactivos</a:t>
            </a:r>
            <a:r>
              <a:rPr lang="es-ES" sz="2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 soberanos</a:t>
            </a:r>
            <a:r>
              <a:rPr lang="es-ES" sz="2000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VE" sz="2400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Sanciones </a:t>
            </a:r>
            <a:r>
              <a:rPr lang="es-VE" sz="2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Pecuniarias. </a:t>
            </a:r>
            <a:r>
              <a:rPr lang="es-VE" sz="2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Art 47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b="1" i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Responsabilidad </a:t>
            </a:r>
            <a:r>
              <a:rPr lang="es-ES" sz="2400" b="1" i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del funcionario o </a:t>
            </a:r>
            <a:r>
              <a:rPr lang="es-ES" sz="2400" b="1" i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funcionaria. Art. </a:t>
            </a:r>
            <a:r>
              <a:rPr lang="es-ES" sz="2400" b="1" i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49</a:t>
            </a:r>
            <a:endParaRPr lang="es-VE" dirty="0" smtClean="0"/>
          </a:p>
        </p:txBody>
      </p:sp>
      <p:sp>
        <p:nvSpPr>
          <p:cNvPr id="4" name="CuadroTexto 3"/>
          <p:cNvSpPr txBox="1"/>
          <p:nvPr/>
        </p:nvSpPr>
        <p:spPr>
          <a:xfrm>
            <a:off x="467544" y="332656"/>
            <a:ext cx="622841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300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Decreto </a:t>
            </a:r>
            <a:r>
              <a:rPr lang="es-VE" sz="2300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Constituyente</a:t>
            </a:r>
          </a:p>
          <a:p>
            <a:r>
              <a:rPr lang="es-VE" sz="2300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sobre</a:t>
            </a:r>
            <a:r>
              <a:rPr lang="es-VE" sz="2300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es-VE" sz="2300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el </a:t>
            </a:r>
            <a:r>
              <a:rPr lang="es-VE" sz="2800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Sistema </a:t>
            </a:r>
            <a:r>
              <a:rPr lang="es-VE" sz="2800" b="1" dirty="0" err="1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Integralde</a:t>
            </a:r>
            <a:r>
              <a:rPr lang="es-VE" sz="2800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 Criptoactivos,</a:t>
            </a:r>
          </a:p>
          <a:p>
            <a:r>
              <a:rPr lang="es-VE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Publicado  </a:t>
            </a:r>
            <a:r>
              <a:rPr lang="es-VE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en </a:t>
            </a:r>
            <a:r>
              <a:rPr lang="es-VE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G</a:t>
            </a:r>
            <a:r>
              <a:rPr lang="es-VE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aceta Oficial N° 41.575</a:t>
            </a:r>
            <a:r>
              <a:rPr lang="es-VE" b="1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.</a:t>
            </a:r>
            <a:endParaRPr lang="es-VE" dirty="0" smtClean="0"/>
          </a:p>
        </p:txBody>
      </p:sp>
    </p:spTree>
    <p:extLst>
      <p:ext uri="{BB962C8B-B14F-4D97-AF65-F5344CB8AC3E}">
        <p14:creationId xmlns:p14="http://schemas.microsoft.com/office/powerpoint/2010/main" val="154803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179512" y="219271"/>
            <a:ext cx="7560840" cy="173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Providencia </a:t>
            </a:r>
            <a:r>
              <a:rPr lang="es-ES" sz="2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N° 084-2020, 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Gaceta </a:t>
            </a:r>
            <a:r>
              <a:rPr lang="es-ES" sz="2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Oficial N°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41.969,</a:t>
            </a:r>
          </a:p>
          <a:p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“Regula </a:t>
            </a:r>
            <a:r>
              <a:rPr lang="es-ES" sz="2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las actividades relacionadas con el uso,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importación</a:t>
            </a:r>
          </a:p>
          <a:p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y </a:t>
            </a:r>
            <a:r>
              <a:rPr lang="es-ES" sz="2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comercialización de equipos de minería digital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”.</a:t>
            </a:r>
          </a:p>
          <a:p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21 </a:t>
            </a:r>
            <a:r>
              <a:rPr lang="es-ES" sz="2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de septiembre de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2020</a:t>
            </a:r>
            <a:endParaRPr lang="es-ES" sz="20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es-VE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323528" y="1613372"/>
            <a:ext cx="4572000" cy="233910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 INTEGRAL DE MINEROS</a:t>
            </a:r>
          </a:p>
          <a:p>
            <a:pPr algn="just"/>
            <a:r>
              <a:rPr lang="es-E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E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RIM</a:t>
            </a:r>
            <a:r>
              <a:rPr lang="es-E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 un módulo del </a:t>
            </a:r>
            <a:r>
              <a:rPr lang="es-E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RISEC</a:t>
            </a:r>
            <a:r>
              <a:rPr lang="es-E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les permite a las personas naturales o jurídicas que ejerzan la actividad de minería u otra actividad conexa a la misma, solicitar los tramites regulatorios(las licencias) necesarias para ejercer la actividad de forma legal y controlada a los fines de regularizarse.</a:t>
            </a:r>
            <a:endParaRPr lang="es-VE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219202" y="4089411"/>
            <a:ext cx="4780651" cy="2514327"/>
            <a:chOff x="219202" y="4089411"/>
            <a:chExt cx="4780651" cy="2514327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19202" y="4089411"/>
              <a:ext cx="4780651" cy="2514327"/>
            </a:xfrm>
            <a:prstGeom prst="rect">
              <a:avLst/>
            </a:prstGeom>
          </p:spPr>
        </p:pic>
        <p:sp>
          <p:nvSpPr>
            <p:cNvPr id="2" name="Rectángulo 1"/>
            <p:cNvSpPr/>
            <p:nvPr/>
          </p:nvSpPr>
          <p:spPr>
            <a:xfrm>
              <a:off x="394646" y="4284746"/>
              <a:ext cx="1970457" cy="21236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s-ES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 Registro Integral del Mineros (</a:t>
              </a:r>
              <a:r>
                <a:rPr lang="es-ES" sz="1200" b="1" dirty="0" err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RIM</a:t>
              </a:r>
              <a:r>
                <a:rPr lang="es-ES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), es el proceso automatizado para el otorgamiento de licencias que facturan la legalidad del ejercicio de la actividad de la minería digital, que se ejerza en el territorio nacional</a:t>
              </a:r>
              <a:r>
                <a:rPr lang="es-ES" sz="1200" b="1" dirty="0" smtClean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just"/>
              <a:r>
                <a:rPr lang="es-ES" sz="1200" b="1" dirty="0" smtClean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modulo</a:t>
              </a:r>
              <a:endParaRPr lang="es-VE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2080" y="1518192"/>
            <a:ext cx="3493311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26670" t="20833" r="27766" b="17963"/>
          <a:stretch/>
        </p:blipFill>
        <p:spPr>
          <a:xfrm>
            <a:off x="179512" y="908720"/>
            <a:ext cx="6984776" cy="528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4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redondeado 7"/>
          <p:cNvSpPr/>
          <p:nvPr/>
        </p:nvSpPr>
        <p:spPr>
          <a:xfrm>
            <a:off x="179512" y="1916832"/>
            <a:ext cx="8352928" cy="4320480"/>
          </a:xfrm>
          <a:prstGeom prst="roundRect">
            <a:avLst>
              <a:gd name="adj" fmla="val 8498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" name="Rectángulo 1"/>
          <p:cNvSpPr/>
          <p:nvPr/>
        </p:nvSpPr>
        <p:spPr>
          <a:xfrm>
            <a:off x="1403648" y="260648"/>
            <a:ext cx="56049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VE" sz="3600" b="1" dirty="0">
                <a:solidFill>
                  <a:schemeClr val="bg1"/>
                </a:solidFill>
                <a:latin typeface="Nunito Sans"/>
              </a:rPr>
              <a:t>TIPOS DE LICENCIA </a:t>
            </a:r>
            <a:r>
              <a:rPr lang="es-VE" sz="3600" b="1" dirty="0" err="1">
                <a:solidFill>
                  <a:schemeClr val="bg1"/>
                </a:solidFill>
                <a:latin typeface="Nunito Sans"/>
              </a:rPr>
              <a:t>RIM</a:t>
            </a:r>
            <a:endParaRPr lang="es-VE" sz="3600" b="1" i="0" dirty="0">
              <a:solidFill>
                <a:schemeClr val="bg1"/>
              </a:solidFill>
              <a:effectLst/>
              <a:latin typeface="Nunito Sans"/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52855"/>
              </p:ext>
            </p:extLst>
          </p:nvPr>
        </p:nvGraphicFramePr>
        <p:xfrm>
          <a:off x="539551" y="2120826"/>
          <a:ext cx="7632850" cy="3912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23130">
                  <a:extLst>
                    <a:ext uri="{9D8B030D-6E8A-4147-A177-3AD203B41FA5}">
                      <a16:colId xmlns:a16="http://schemas.microsoft.com/office/drawing/2014/main" val="1028486922"/>
                    </a:ext>
                  </a:extLst>
                </a:gridCol>
                <a:gridCol w="2306656">
                  <a:extLst>
                    <a:ext uri="{9D8B030D-6E8A-4147-A177-3AD203B41FA5}">
                      <a16:colId xmlns:a16="http://schemas.microsoft.com/office/drawing/2014/main" val="4172503133"/>
                    </a:ext>
                  </a:extLst>
                </a:gridCol>
                <a:gridCol w="1403064">
                  <a:extLst>
                    <a:ext uri="{9D8B030D-6E8A-4147-A177-3AD203B41FA5}">
                      <a16:colId xmlns:a16="http://schemas.microsoft.com/office/drawing/2014/main" val="3064651477"/>
                    </a:ext>
                  </a:extLst>
                </a:gridCol>
              </a:tblGrid>
              <a:tr h="481900"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800" u="none" strike="noStrike" dirty="0">
                          <a:effectLst/>
                        </a:rPr>
                        <a:t>TIPO DE TRÁMITE</a:t>
                      </a:r>
                      <a:endParaRPr lang="es-VE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800" u="none" strike="noStrike">
                          <a:effectLst/>
                        </a:rPr>
                        <a:t>TIPO DE PERSONA</a:t>
                      </a:r>
                      <a:endParaRPr lang="es-VE" sz="2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800" u="none" strike="noStrike">
                          <a:effectLst/>
                        </a:rPr>
                        <a:t>VÁLIDEZ</a:t>
                      </a:r>
                      <a:endParaRPr lang="es-VE" sz="2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44423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VE" sz="2000" u="none" strike="noStrike" dirty="0">
                          <a:effectLst/>
                        </a:rPr>
                        <a:t>Licencia de Uso</a:t>
                      </a:r>
                      <a:endParaRPr lang="es-VE" sz="2000" b="1" i="0" u="none" strike="noStrike" dirty="0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000" u="none" strike="noStrike">
                          <a:effectLst/>
                        </a:rPr>
                        <a:t>Natural y Jurídica</a:t>
                      </a:r>
                      <a:endParaRPr lang="es-VE" sz="2000" b="1" i="0" u="none" strike="noStrike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000" u="none" strike="noStrike">
                          <a:effectLst/>
                        </a:rPr>
                        <a:t>6 meses</a:t>
                      </a:r>
                      <a:endParaRPr lang="es-VE" sz="2000" b="1" i="0" u="none" strike="noStrike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397900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VE" sz="2000" u="none" strike="noStrike" dirty="0">
                          <a:effectLst/>
                        </a:rPr>
                        <a:t>Licencia de Importación</a:t>
                      </a:r>
                      <a:endParaRPr lang="es-VE" sz="2000" b="1" i="0" u="none" strike="noStrike" dirty="0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000" u="none" strike="noStrike" dirty="0">
                          <a:effectLst/>
                        </a:rPr>
                        <a:t>Jurídica</a:t>
                      </a:r>
                      <a:endParaRPr lang="es-VE" sz="2000" b="1" i="0" u="none" strike="noStrike" dirty="0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000" u="none" strike="noStrike">
                          <a:effectLst/>
                        </a:rPr>
                        <a:t>6 meses</a:t>
                      </a:r>
                      <a:endParaRPr lang="es-VE" sz="2000" b="1" i="0" u="none" strike="noStrike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41549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VE" sz="2000" u="none" strike="noStrike" dirty="0">
                          <a:effectLst/>
                        </a:rPr>
                        <a:t>Licencia de Hospedaje</a:t>
                      </a:r>
                      <a:endParaRPr lang="es-VE" sz="2000" b="1" i="0" u="none" strike="noStrike" dirty="0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000" u="none" strike="noStrike" dirty="0">
                          <a:effectLst/>
                        </a:rPr>
                        <a:t>Jurídica</a:t>
                      </a:r>
                      <a:endParaRPr lang="es-VE" sz="2000" b="1" i="0" u="none" strike="noStrike" dirty="0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000" u="none" strike="noStrike">
                          <a:effectLst/>
                        </a:rPr>
                        <a:t>1 año</a:t>
                      </a:r>
                      <a:endParaRPr lang="es-VE" sz="2000" b="1" i="0" u="none" strike="noStrike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227403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VE" sz="2000" u="none" strike="noStrike" dirty="0">
                          <a:effectLst/>
                        </a:rPr>
                        <a:t>Licencia de Comercialización</a:t>
                      </a:r>
                      <a:endParaRPr lang="es-VE" sz="2000" b="1" i="0" u="none" strike="noStrike" dirty="0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000" u="none" strike="noStrike" dirty="0">
                          <a:effectLst/>
                        </a:rPr>
                        <a:t>Jurídica</a:t>
                      </a:r>
                      <a:endParaRPr lang="es-VE" sz="2000" b="1" i="0" u="none" strike="noStrike" dirty="0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000" u="none" strike="noStrike">
                          <a:effectLst/>
                        </a:rPr>
                        <a:t>1 año</a:t>
                      </a:r>
                      <a:endParaRPr lang="es-VE" sz="2000" b="1" i="0" u="none" strike="noStrike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602127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>
                          <a:effectLst/>
                        </a:rPr>
                        <a:t>Licencia de Fabricación y Ensamblaje</a:t>
                      </a:r>
                      <a:endParaRPr lang="es-ES" sz="2000" b="1" i="0" u="none" strike="noStrike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000" u="none" strike="noStrike" dirty="0">
                          <a:effectLst/>
                        </a:rPr>
                        <a:t>Jurídica</a:t>
                      </a:r>
                      <a:endParaRPr lang="es-VE" sz="2000" b="1" i="0" u="none" strike="noStrike" dirty="0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000" u="none" strike="noStrike" dirty="0">
                          <a:effectLst/>
                        </a:rPr>
                        <a:t>1 año</a:t>
                      </a:r>
                      <a:endParaRPr lang="es-VE" sz="2000" b="1" i="0" u="none" strike="noStrike" dirty="0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597202"/>
                  </a:ext>
                </a:extLst>
              </a:tr>
              <a:tr h="365579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ES" sz="2000" u="none" strike="noStrike">
                          <a:effectLst/>
                        </a:rPr>
                        <a:t>Autorización de Servicio de Internet</a:t>
                      </a:r>
                      <a:endParaRPr lang="es-ES" sz="2000" b="1" i="0" u="none" strike="noStrike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000" u="none" strike="noStrike">
                          <a:effectLst/>
                        </a:rPr>
                        <a:t>Jurídica</a:t>
                      </a:r>
                      <a:endParaRPr lang="es-VE" sz="2000" b="1" i="0" u="none" strike="noStrike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000" u="none" strike="noStrike" dirty="0">
                          <a:effectLst/>
                        </a:rPr>
                        <a:t>1 año</a:t>
                      </a:r>
                      <a:endParaRPr lang="es-VE" sz="2000" b="1" i="0" u="none" strike="noStrike" dirty="0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803285"/>
                  </a:ext>
                </a:extLst>
              </a:tr>
              <a:tr h="348962">
                <a:tc>
                  <a:txBody>
                    <a:bodyPr/>
                    <a:lstStyle/>
                    <a:p>
                      <a:pPr marL="342900" indent="-342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s-VE" sz="2000" u="none" strike="noStrike" dirty="0">
                          <a:effectLst/>
                        </a:rPr>
                        <a:t>Certificado de Servicio Técnico</a:t>
                      </a:r>
                      <a:endParaRPr lang="es-VE" sz="2000" b="1" i="0" u="none" strike="noStrike" dirty="0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000" u="none" strike="noStrike">
                          <a:effectLst/>
                        </a:rPr>
                        <a:t>Natural y Jurídica</a:t>
                      </a:r>
                      <a:endParaRPr lang="es-VE" sz="2000" b="1" i="0" u="none" strike="noStrike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VE" sz="2000" u="none" strike="noStrike" dirty="0">
                          <a:effectLst/>
                        </a:rPr>
                        <a:t>1 año</a:t>
                      </a:r>
                      <a:endParaRPr lang="es-VE" sz="2000" b="1" i="0" u="none" strike="noStrike" dirty="0">
                        <a:solidFill>
                          <a:srgbClr val="2125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649007"/>
                  </a:ext>
                </a:extLst>
              </a:tr>
            </a:tbl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105304"/>
            <a:ext cx="731583" cy="84132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580" y="1068725"/>
            <a:ext cx="877900" cy="87790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036" y="1196752"/>
            <a:ext cx="579170" cy="7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8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82626" y="1340768"/>
            <a:ext cx="79471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Que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regula normas relativas a la administración y fiscalización de los riesgos relacionados con la legitimación de capitales, el financiamiento del terrorismo y el financiamiento de la proliferación de armas de destrucción masiva, aplicables a los proveedores de servicios de activos virtuales y a las personas y entidades que proporcionen productos y servicios a través de actividades que involucren activos virtuales, en el sistema integral de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criptoactivos</a:t>
            </a:r>
            <a:endParaRPr lang="es-VE" sz="20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395536" y="3645024"/>
            <a:ext cx="820891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Esta Providencia tiene por objeto establecer las normas, actuaciones y</a:t>
            </a:r>
          </a:p>
          <a:p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controles que, como mínimo, deben adoptar y ejecutar los Sujetos Obligados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para prevenir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y mitigar el riesgo que sus actividades y operaciones sean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utilizadas como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mecanismos para legitimar capitales provenientes de actividades ilícitas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o para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financiar el terrorismo o la proliferación de armas de destrucción masiva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, tomando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en cuenta su nivel de riesgo determinado en base a sus 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respectivas Evaluaciones</a:t>
            </a:r>
            <a:r>
              <a:rPr lang="es-ES" sz="2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.</a:t>
            </a:r>
            <a:endParaRPr lang="es-VE" sz="20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364707" y="332656"/>
            <a:ext cx="7560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Gaceta oficial N° 42.110, </a:t>
            </a:r>
            <a:r>
              <a:rPr lang="es-VE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PROVIDENCIA N° </a:t>
            </a:r>
            <a:r>
              <a:rPr lang="es-VE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044-2021</a:t>
            </a:r>
            <a:endParaRPr lang="es-VE" sz="24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23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332656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32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NFT Y SUS DERECHOS</a:t>
            </a:r>
            <a:endParaRPr lang="es-VE" sz="32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6" name="Conector recto 5"/>
          <p:cNvCxnSpPr/>
          <p:nvPr/>
        </p:nvCxnSpPr>
        <p:spPr>
          <a:xfrm>
            <a:off x="4499992" y="1844824"/>
            <a:ext cx="0" cy="410445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251520" y="2060848"/>
            <a:ext cx="4104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0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Relación jugador – juego: “Términos de uso / Términos y Condiciones”. </a:t>
            </a:r>
            <a:endParaRPr lang="es-VE" sz="20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250801" y="3212976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0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Derecho de propiedad intelectual.</a:t>
            </a:r>
            <a:endParaRPr lang="es-VE" sz="20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50801" y="4107407"/>
            <a:ext cx="4104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0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Actividades prohibidas por parte del jugador o usuario.</a:t>
            </a:r>
            <a:endParaRPr lang="es-VE" sz="20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4788024" y="2060848"/>
            <a:ext cx="4104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0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Relación jugador (Dueño de cuenta) - jugador (Becado): “Contrato de Beca”</a:t>
            </a:r>
            <a:endParaRPr lang="es-VE" sz="20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4788024" y="3232720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0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Relación  con el Derecho Tributario.</a:t>
            </a:r>
            <a:endParaRPr lang="es-VE" sz="20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4788024" y="4096816"/>
            <a:ext cx="41044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0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Relación con la regulación administrativa aplicable a los Criptoactivos.</a:t>
            </a:r>
            <a:endParaRPr lang="es-VE" sz="20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107504" y="2152891"/>
            <a:ext cx="2025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bg1"/>
              </a:solidFill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107504" y="3311865"/>
            <a:ext cx="2025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bg1"/>
              </a:solidFill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103183" y="4186386"/>
            <a:ext cx="2025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bg1"/>
              </a:solidFill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4657532" y="2156369"/>
            <a:ext cx="2025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bg1"/>
              </a:solidFill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4659814" y="3315906"/>
            <a:ext cx="2025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bg1"/>
              </a:solidFill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4655994" y="4186386"/>
            <a:ext cx="2025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31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467544" y="260648"/>
            <a:ext cx="72728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Cláusulas de pago en Criptoactivos.</a:t>
            </a:r>
            <a:endParaRPr lang="es-VE" sz="32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220016" y="1844824"/>
            <a:ext cx="88924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6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	</a:t>
            </a:r>
            <a:r>
              <a:rPr lang="es-MX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</a:t>
            </a:r>
            <a:r>
              <a:rPr lang="es-MX" sz="36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 posible que las partes convengan una cláusula que contemple el pago de una obligación  con criptoactivos lo que es completamente legal, y solo podrá limitarse a aquellas regulaciones especificas aplicables a la naturaleza del acuerdo. </a:t>
            </a:r>
            <a:endParaRPr lang="es-VE" sz="3600" dirty="0"/>
          </a:p>
        </p:txBody>
      </p:sp>
    </p:spTree>
    <p:extLst>
      <p:ext uri="{BB962C8B-B14F-4D97-AF65-F5344CB8AC3E}">
        <p14:creationId xmlns:p14="http://schemas.microsoft.com/office/powerpoint/2010/main" val="78813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2"/>
          <p:cNvSpPr/>
          <p:nvPr/>
        </p:nvSpPr>
        <p:spPr>
          <a:xfrm>
            <a:off x="-828600" y="332655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2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Cláusulas de pago en Criptoactivos.</a:t>
            </a:r>
            <a:endParaRPr lang="es-VE" sz="3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" name="Conector recto 5"/>
          <p:cNvCxnSpPr/>
          <p:nvPr/>
        </p:nvCxnSpPr>
        <p:spPr>
          <a:xfrm>
            <a:off x="4280666" y="1904546"/>
            <a:ext cx="0" cy="410445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13"/>
          <p:cNvSpPr/>
          <p:nvPr/>
        </p:nvSpPr>
        <p:spPr>
          <a:xfrm>
            <a:off x="176500" y="1986317"/>
            <a:ext cx="2025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bg1"/>
              </a:solidFill>
            </a:endParaRPr>
          </a:p>
        </p:txBody>
      </p:sp>
      <p:sp>
        <p:nvSpPr>
          <p:cNvPr id="6" name="CuadroTexto 7"/>
          <p:cNvSpPr txBox="1"/>
          <p:nvPr/>
        </p:nvSpPr>
        <p:spPr>
          <a:xfrm>
            <a:off x="324886" y="1863497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es-MX" sz="24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Monto a pagar. </a:t>
            </a:r>
            <a:endParaRPr lang="es-VE" sz="24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ángulo 13"/>
          <p:cNvSpPr/>
          <p:nvPr/>
        </p:nvSpPr>
        <p:spPr>
          <a:xfrm>
            <a:off x="195775" y="3342059"/>
            <a:ext cx="2025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bg1"/>
              </a:solidFill>
            </a:endParaRPr>
          </a:p>
        </p:txBody>
      </p:sp>
      <p:sp>
        <p:nvSpPr>
          <p:cNvPr id="8" name="Rectángulo 13"/>
          <p:cNvSpPr/>
          <p:nvPr/>
        </p:nvSpPr>
        <p:spPr>
          <a:xfrm>
            <a:off x="4633700" y="3789040"/>
            <a:ext cx="2025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bg1"/>
              </a:solidFill>
            </a:endParaRPr>
          </a:p>
        </p:txBody>
      </p:sp>
      <p:sp>
        <p:nvSpPr>
          <p:cNvPr id="9" name="Rectángulo 13"/>
          <p:cNvSpPr/>
          <p:nvPr/>
        </p:nvSpPr>
        <p:spPr>
          <a:xfrm>
            <a:off x="176500" y="4169228"/>
            <a:ext cx="2025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bg1"/>
              </a:solidFill>
            </a:endParaRPr>
          </a:p>
        </p:txBody>
      </p:sp>
      <p:sp>
        <p:nvSpPr>
          <p:cNvPr id="10" name="Rectángulo 13"/>
          <p:cNvSpPr/>
          <p:nvPr/>
        </p:nvSpPr>
        <p:spPr>
          <a:xfrm>
            <a:off x="4633700" y="1863497"/>
            <a:ext cx="2025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bg1"/>
              </a:solidFill>
            </a:endParaRPr>
          </a:p>
        </p:txBody>
      </p:sp>
      <p:sp>
        <p:nvSpPr>
          <p:cNvPr id="11" name="Rectángulo 13"/>
          <p:cNvSpPr/>
          <p:nvPr/>
        </p:nvSpPr>
        <p:spPr>
          <a:xfrm>
            <a:off x="4600600" y="2654281"/>
            <a:ext cx="2025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bg1"/>
              </a:solidFill>
            </a:endParaRPr>
          </a:p>
        </p:txBody>
      </p:sp>
      <p:sp>
        <p:nvSpPr>
          <p:cNvPr id="13" name="CuadroTexto 7"/>
          <p:cNvSpPr txBox="1"/>
          <p:nvPr/>
        </p:nvSpPr>
        <p:spPr>
          <a:xfrm>
            <a:off x="4803100" y="4531238"/>
            <a:ext cx="4104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Indicar cuales serán las direcciones de pago. </a:t>
            </a:r>
            <a:endParaRPr lang="es-VE" sz="20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CuadroTexto 7"/>
          <p:cNvSpPr txBox="1"/>
          <p:nvPr/>
        </p:nvSpPr>
        <p:spPr>
          <a:xfrm>
            <a:off x="4876704" y="2542420"/>
            <a:ext cx="41044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Indicar si el criptoactivo será utilizado como unidad de cuenta o como medio de pago. </a:t>
            </a:r>
            <a:endParaRPr lang="es-VE" sz="20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6" name="CuadroTexto 7"/>
          <p:cNvSpPr txBox="1"/>
          <p:nvPr/>
        </p:nvSpPr>
        <p:spPr>
          <a:xfrm>
            <a:off x="4836200" y="1771454"/>
            <a:ext cx="4104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Tipo de Criptoactivo y monto total a pagar. </a:t>
            </a:r>
            <a:endParaRPr lang="es-VE" sz="20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7" name="CuadroTexto 7"/>
          <p:cNvSpPr txBox="1"/>
          <p:nvPr/>
        </p:nvSpPr>
        <p:spPr>
          <a:xfrm>
            <a:off x="315739" y="3195808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es-MX" sz="2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L</a:t>
            </a:r>
            <a:r>
              <a:rPr lang="es-MX" sz="24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a Usabilidad que se dará. </a:t>
            </a:r>
            <a:endParaRPr lang="es-VE" sz="24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CuadroTexto 7"/>
          <p:cNvSpPr txBox="1"/>
          <p:nvPr/>
        </p:nvSpPr>
        <p:spPr>
          <a:xfrm>
            <a:off x="4803100" y="3657473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Determinar la tasa de cambio. </a:t>
            </a:r>
            <a:endParaRPr lang="es-VE" sz="20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9" name="CuadroTexto 7"/>
          <p:cNvSpPr txBox="1"/>
          <p:nvPr/>
        </p:nvSpPr>
        <p:spPr>
          <a:xfrm>
            <a:off x="404881" y="4005064"/>
            <a:ext cx="4104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 El modo en que se efectuara el pago y en que dirección de ser necesario, </a:t>
            </a:r>
            <a:endParaRPr lang="es-VE" sz="24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20" name="Rectángulo 13"/>
          <p:cNvSpPr/>
          <p:nvPr/>
        </p:nvSpPr>
        <p:spPr>
          <a:xfrm>
            <a:off x="4600600" y="4608911"/>
            <a:ext cx="2025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46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2060848"/>
            <a:ext cx="9144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6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GRACIAS</a:t>
            </a:r>
          </a:p>
          <a:p>
            <a:pPr algn="ctr"/>
            <a:r>
              <a:rPr lang="es-MX" sz="4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POR </a:t>
            </a:r>
            <a:r>
              <a:rPr lang="es-MX" sz="4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 ATENCIÓN PRESTADA.</a:t>
            </a:r>
            <a:endParaRPr lang="es-VE" sz="44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5436096" y="5085184"/>
            <a:ext cx="3456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Abg. Argenis Flores.</a:t>
            </a:r>
          </a:p>
          <a:p>
            <a:r>
              <a:rPr lang="es-MX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Asesor Jurídico de la REC. </a:t>
            </a:r>
            <a:endParaRPr lang="es-VE" sz="2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420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1185</Words>
  <Application>Microsoft Office PowerPoint</Application>
  <PresentationFormat>Presentación en pantalla (4:3)</PresentationFormat>
  <Paragraphs>123</Paragraphs>
  <Slides>19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Arial</vt:lpstr>
      <vt:lpstr>Arial Narrow</vt:lpstr>
      <vt:lpstr>Calibri</vt:lpstr>
      <vt:lpstr>Nunito Sans</vt:lpstr>
      <vt:lpstr>Ubuntu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Carlos Oñates</cp:lastModifiedBy>
  <cp:revision>18</cp:revision>
  <dcterms:created xsi:type="dcterms:W3CDTF">2021-10-05T03:01:46Z</dcterms:created>
  <dcterms:modified xsi:type="dcterms:W3CDTF">2021-10-05T19:08:30Z</dcterms:modified>
</cp:coreProperties>
</file>